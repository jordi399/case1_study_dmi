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swer" id="{7755c304-dea4-9195-9819-a032559b29d1}">
          <p14:sldIdLst>
            <p14:sldId id="256"/>
          </p14:sldIdLst>
        </p14:section>
        <p14:section name="Evidence" id="{d4b61dde-4f16-5316-c1b4-4d07d38687cc}">
          <p14:sldIdLst>
            <p14:sldId id="257"/>
            <p14:sldId id="258"/>
          </p14:sldIdLst>
        </p14:section>
        <p14:section name="Decisions" id="{e343fc94-f0b8-79ce-ba49-4ae4323cfe69}">
          <p14:sldIdLst>
            <p14:sldId id="259"/>
            <p14:sldId id="260"/>
            <p14:sldId id="261"/>
          </p14:sldIdLst>
        </p14:section>
        <p14:section name="Next steps" id="{b9ecaf15-ea29-3d8d-702c-05be68b371c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A3A29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0B0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2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 guess</c:v>
                  </c:pt>
                  <c:pt idx="1">
                    <c:v>WoE logistic
(baseline)</c:v>
                  </c:pt>
                  <c:pt idx="2">
                    <c:v>LightGBM
(advanced)</c:v>
                  </c:pt>
                  <c:pt idx="3">
                    <c:v>Same pipeline,
moderate signal</c:v>
                  </c:pt>
                  <c:pt idx="4">
                    <c:v>Same pipeline,
strong signal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0.502</c:v>
                </c:pt>
                <c:pt idx="2">
                  <c:v>0.503</c:v>
                </c:pt>
                <c:pt idx="3">
                  <c:v>0.647</c:v>
                </c:pt>
                <c:pt idx="4">
                  <c:v>0.794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0B0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4"/>
        </c:scaling>
        <c:delete val="0"/>
        <c:axPos val="l"/>
        <c:majorGridlines>
          <c:spPr>
            <a:ln w="6350" cap="flat">
              <a:solidFill>
                <a:srgbClr val="E6E5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0.55</c:v>
                  </c:pt>
                  <c:pt idx="2">
                    <c:v>0.60</c:v>
                  </c:pt>
                  <c:pt idx="3">
                    <c:v>0.65</c:v>
                  </c:pt>
                  <c:pt idx="4">
                    <c:v>0.70</c:v>
                  </c:pt>
                  <c:pt idx="5">
                    <c:v>0.75</c:v>
                  </c:pt>
                  <c:pt idx="6">
                    <c:v>0.80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-11.2</c:v>
                </c:pt>
                <c:pt idx="1">
                  <c:v>-6.4</c:v>
                </c:pt>
                <c:pt idx="2">
                  <c:v>-1.2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0.55</c:v>
                  </c:pt>
                  <c:pt idx="2">
                    <c:v>0.60</c:v>
                  </c:pt>
                  <c:pt idx="3">
                    <c:v>0.65</c:v>
                  </c:pt>
                  <c:pt idx="4">
                    <c:v>0.70</c:v>
                  </c:pt>
                  <c:pt idx="5">
                    <c:v>0.75</c:v>
                  </c:pt>
                  <c:pt idx="6">
                    <c:v>0.80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  <c:pt idx="4">
                  <c:v>9.5</c:v>
                </c:pt>
                <c:pt idx="5">
                  <c:v>15.5</c:v>
                </c:pt>
                <c:pt idx="6">
                  <c:v>21.9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Arial"/>
                  </a:rPr>
                  <a:t>Model AUC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Arial"/>
                  </a:rPr>
                  <a:t>Net value (₹ lakh)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answer. Two models built properly (WoE scorecard and tuned LightGBM, out-of-time test, customer-grouped CV) both score AUC 0.50. A positive control shows the pipeline works when signal exists. The label itself fails basic audits. So the decision is: don't deploy, fix the data, and start a randomised pilot that also generates a causal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data problems are the real finding. The label audit is the strongest evidence the target is not a real behavioural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pre-empts the question 'maybe your model is bad'. The positive control injects realistic signal into the labels and the same pipeline recovers AUC 0.54 to 0.79 as strength increases.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8F0"/>
                </a:solidFill>
              </a:rPr>
              <a:t>FinFast  |  Repeat-loan propensity case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8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FinFast  |  Repeat-loan propensity case study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8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8F0"/>
                </a:solidFill>
              </a:rPr>
              <a:t>REPEAT-LOAN PROPENSITY  ·  LEADERSHIP SUMMARY</a:t>
            </a:r>
            <a:endParaRPr lang="en-US" sz="1200" dirty="0"/>
          </a:p>
        </p:txBody>
      </p:sp>
      <p:sp>
        <p:nvSpPr>
          <p:cNvPr id="3" name="Headline"/>
          <p:cNvSpPr txBox="1"/>
          <p:nvPr/>
        </p:nvSpPr>
        <p:spPr>
          <a:xfrm>
            <a:off x="548640" y="9601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can't predict repeat borrowing yet. Don't deploy a model; fix the label and run a pilot.</a:t>
            </a:r>
            <a:endParaRPr lang="en-US" sz="3200" dirty="0"/>
          </a:p>
        </p:txBody>
      </p:sp>
      <p:sp>
        <p:nvSpPr>
          <p:cNvPr id="4" name="Stat 1"/>
          <p:cNvSpPr/>
          <p:nvPr/>
        </p:nvSpPr>
        <p:spPr>
          <a:xfrm>
            <a:off x="548640" y="2743200"/>
            <a:ext cx="2633472" cy="237744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5" name="Stat 1 value"/>
          <p:cNvSpPr txBox="1"/>
          <p:nvPr/>
        </p:nvSpPr>
        <p:spPr>
          <a:xfrm>
            <a:off x="777240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0.50</a:t>
            </a:r>
            <a:endParaRPr lang="en-US" sz="4000" dirty="0"/>
          </a:p>
        </p:txBody>
      </p:sp>
      <p:sp>
        <p:nvSpPr>
          <p:cNvPr id="6" name="Stat 1 text"/>
          <p:cNvSpPr txBox="1"/>
          <p:nvPr/>
        </p:nvSpPr>
        <p:spPr>
          <a:xfrm>
            <a:off x="777240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5"/>
                </a:solidFill>
              </a:rPr>
              <a:t>AUC of both models on 2024 data. Coin-flip ranking (permutation p &gt; 0.2).</a:t>
            </a:r>
            <a:endParaRPr lang="en-US" sz="1300" dirty="0"/>
          </a:p>
        </p:txBody>
      </p:sp>
      <p:sp>
        <p:nvSpPr>
          <p:cNvPr id="7" name="Stat 2"/>
          <p:cNvSpPr/>
          <p:nvPr/>
        </p:nvSpPr>
        <p:spPr>
          <a:xfrm>
            <a:off x="3364992" y="2743200"/>
            <a:ext cx="2633472" cy="237744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8" name="Stat 2 value"/>
          <p:cNvSpPr txBox="1"/>
          <p:nvPr/>
        </p:nvSpPr>
        <p:spPr>
          <a:xfrm>
            <a:off x="3593592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0.79</a:t>
            </a:r>
            <a:endParaRPr lang="en-US" sz="4000" dirty="0"/>
          </a:p>
        </p:txBody>
      </p:sp>
      <p:sp>
        <p:nvSpPr>
          <p:cNvPr id="9" name="Stat 2 text"/>
          <p:cNvSpPr txBox="1"/>
          <p:nvPr/>
        </p:nvSpPr>
        <p:spPr>
          <a:xfrm>
            <a:off x="3593592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5"/>
                </a:solidFill>
              </a:rPr>
              <a:t>AUC the same pipeline reaches when real signal is injected: the method works, the label doesn't.</a:t>
            </a:r>
            <a:endParaRPr lang="en-US" sz="1300" dirty="0"/>
          </a:p>
        </p:txBody>
      </p:sp>
      <p:sp>
        <p:nvSpPr>
          <p:cNvPr id="10" name="Stat 3"/>
          <p:cNvSpPr/>
          <p:nvPr/>
        </p:nvSpPr>
        <p:spPr>
          <a:xfrm>
            <a:off x="6181344" y="2743200"/>
            <a:ext cx="2633472" cy="237744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11" name="Stat 3 value"/>
          <p:cNvSpPr txBox="1"/>
          <p:nvPr/>
        </p:nvSpPr>
        <p:spPr>
          <a:xfrm>
            <a:off x="6409944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A72"/>
                </a:solidFill>
              </a:rPr>
              <a:t>−₹11 L</a:t>
            </a:r>
            <a:endParaRPr lang="en-US" sz="4000" dirty="0"/>
          </a:p>
        </p:txBody>
      </p:sp>
      <p:sp>
        <p:nvSpPr>
          <p:cNvPr id="12" name="Stat 3 text"/>
          <p:cNvSpPr txBox="1"/>
          <p:nvPr/>
        </p:nvSpPr>
        <p:spPr>
          <a:xfrm>
            <a:off x="6409944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5"/>
                </a:solidFill>
              </a:rPr>
              <a:t>Net loss per 100K customers if offers are targeted with today's model (~₹45 L of offer spend).</a:t>
            </a:r>
            <a:endParaRPr lang="en-US" sz="1300" dirty="0"/>
          </a:p>
        </p:txBody>
      </p:sp>
      <p:sp>
        <p:nvSpPr>
          <p:cNvPr id="13" name="Stat 4"/>
          <p:cNvSpPr/>
          <p:nvPr/>
        </p:nvSpPr>
        <p:spPr>
          <a:xfrm>
            <a:off x="8997696" y="2743200"/>
            <a:ext cx="2633472" cy="237744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14" name="Stat 4 value"/>
          <p:cNvSpPr txBox="1"/>
          <p:nvPr/>
        </p:nvSpPr>
        <p:spPr>
          <a:xfrm>
            <a:off x="9226296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+₹21 L</a:t>
            </a:r>
            <a:endParaRPr lang="en-US" sz="4000" dirty="0"/>
          </a:p>
        </p:txBody>
      </p:sp>
      <p:sp>
        <p:nvSpPr>
          <p:cNvPr id="15" name="Stat 4 text"/>
          <p:cNvSpPr txBox="1"/>
          <p:nvPr/>
        </p:nvSpPr>
        <p:spPr>
          <a:xfrm>
            <a:off x="9226296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5"/>
                </a:solidFill>
              </a:rPr>
              <a:t>Swing to a +₹9.5 L gain with a 0.70-AUC model built on a validated label.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8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needs fixing at source before any model can be trusted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15 data-quality issues found, logged and flagged in cleaning; these five matter most</a:t>
            </a:r>
            <a:endParaRPr lang="en-US" sz="1300" dirty="0"/>
          </a:p>
        </p:txBody>
      </p:sp>
      <p:graphicFrame>
        <p:nvGraphicFramePr>
          <p:cNvPr id="3" name="Data qual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Same customer_id with different ages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67%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IDs aren't person keys, so customer history can't be built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Approved amount &gt; amount applied for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47%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Manual overrides without an audit trail: a governance flag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Registration date after application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32%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Impossible order: pipeline join or timestamp error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Income reported in ₹ thousands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Mixed units; fixed ×1,000, but the source should enforce one unit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Applicant age under 18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8%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Not a legal borrower: capture or KYC failure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Label audit panel"/>
          <p:cNvSpPr/>
          <p:nvPr/>
        </p:nvSpPr>
        <p:spPr>
          <a:xfrm>
            <a:off x="7863840" y="1645920"/>
            <a:ext cx="374904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udit title"/>
          <p:cNvSpPr txBox="1"/>
          <p:nvPr/>
        </p:nvSpPr>
        <p:spPr>
          <a:xfrm>
            <a:off x="80924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label itself fails two audits</a:t>
            </a:r>
            <a:endParaRPr lang="en-US" sz="1500" dirty="0"/>
          </a:p>
        </p:txBody>
      </p:sp>
      <p:sp>
        <p:nvSpPr>
          <p:cNvPr id="7" name="Audit text"/>
          <p:cNvSpPr txBox="1"/>
          <p:nvPr/>
        </p:nvSpPr>
        <p:spPr>
          <a:xfrm>
            <a:off x="8092440" y="228600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Censoring ignored.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2024 applications have under 12 months of follow-up, yet show the same 30% repeat rate as 2022.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Inconsistent with its own rows.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IDs that do re-apply within 12 months are flagged as repeaters only 30% of the time, the same as IDs that never return.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Ask: rebuild repeat_loan from loan-level disbursal records with a 12-month maturity window.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rank customers at random, and the method is not the problem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Out-of-time AUC on 2024 applications (trained on 2022–23, tuned with customer-grouped CV)</a:t>
            </a:r>
            <a:endParaRPr lang="en-US" sz="1300" dirty="0"/>
          </a:p>
        </p:txBody>
      </p:sp>
      <p:graphicFrame>
        <p:nvGraphicFramePr>
          <p:cNvPr id="4" name="AUC chart" descr=""/>
          <p:cNvGraphicFramePr/>
          <p:nvPr/>
        </p:nvGraphicFramePr>
        <p:xfrm>
          <a:off x="45720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note"/>
          <p:cNvSpPr txBox="1"/>
          <p:nvPr/>
        </p:nvSpPr>
        <p:spPr>
          <a:xfrm>
            <a:off x="548640" y="6035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Axis starts at 0.40. Green bars are the positive control: the same pipeline on labels with known signal.</a:t>
            </a:r>
            <a:endParaRPr lang="en-US" sz="900" dirty="0"/>
          </a:p>
        </p:txBody>
      </p:sp>
      <p:sp>
        <p:nvSpPr>
          <p:cNvPr id="6" name="Point 1 marker"/>
          <p:cNvSpPr/>
          <p:nvPr/>
        </p:nvSpPr>
        <p:spPr>
          <a:xfrm>
            <a:off x="7680960" y="164592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int 1 head"/>
          <p:cNvSpPr txBox="1"/>
          <p:nvPr/>
        </p:nvSpPr>
        <p:spPr>
          <a:xfrm>
            <a:off x="790956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better than chance</a:t>
            </a:r>
            <a:endParaRPr lang="en-US" sz="1400" dirty="0"/>
          </a:p>
        </p:txBody>
      </p:sp>
      <p:sp>
        <p:nvSpPr>
          <p:cNvPr id="8" name="Point 1 text"/>
          <p:cNvSpPr txBox="1"/>
          <p:nvPr/>
        </p:nvSpPr>
        <p:spPr>
          <a:xfrm>
            <a:off x="790956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Label-permutation test: p = 0.28 (WoE) and 0.22 (LightGBM). The AUC 95% CI includes 0.50.</a:t>
            </a:r>
            <a:endParaRPr lang="en-US" sz="1100" dirty="0"/>
          </a:p>
        </p:txBody>
      </p:sp>
      <p:sp>
        <p:nvSpPr>
          <p:cNvPr id="9" name="Point 2 marker"/>
          <p:cNvSpPr/>
          <p:nvPr/>
        </p:nvSpPr>
        <p:spPr>
          <a:xfrm>
            <a:off x="7680960" y="274320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int 2 head"/>
          <p:cNvSpPr txBox="1"/>
          <p:nvPr/>
        </p:nvSpPr>
        <p:spPr>
          <a:xfrm>
            <a:off x="790956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Advanced model adds only noise</a:t>
            </a:r>
            <a:endParaRPr lang="en-US" sz="1400" dirty="0"/>
          </a:p>
        </p:txBody>
      </p:sp>
      <p:sp>
        <p:nvSpPr>
          <p:cNvPr id="11" name="Point 2 text"/>
          <p:cNvSpPr txBox="1"/>
          <p:nvPr/>
        </p:nvSpPr>
        <p:spPr>
          <a:xfrm>
            <a:off x="7909560" y="30906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LightGBM's Brier score is worse than predicting 30% for everyone, the classic sign of fitting noise.</a:t>
            </a:r>
            <a:endParaRPr lang="en-US" sz="1100" dirty="0"/>
          </a:p>
        </p:txBody>
      </p:sp>
      <p:sp>
        <p:nvSpPr>
          <p:cNvPr id="12" name="Point 3 marker"/>
          <p:cNvSpPr/>
          <p:nvPr/>
        </p:nvSpPr>
        <p:spPr>
          <a:xfrm>
            <a:off x="7680960" y="384048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int 3 head"/>
          <p:cNvSpPr txBox="1"/>
          <p:nvPr/>
        </p:nvSpPr>
        <p:spPr>
          <a:xfrm>
            <a:off x="790956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driver beats random noise</a:t>
            </a:r>
            <a:endParaRPr lang="en-US" sz="1400" dirty="0"/>
          </a:p>
        </p:txBody>
      </p:sp>
      <p:sp>
        <p:nvSpPr>
          <p:cNvPr id="14" name="Point 3 text"/>
          <p:cNvSpPr txBox="1"/>
          <p:nvPr/>
        </p:nvSpPr>
        <p:spPr>
          <a:xfrm>
            <a:off x="7909560" y="41879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random column ranks #14 of 27 by SHAP. Scrambling any feature moves AUC by under 0.003.</a:t>
            </a:r>
            <a:endParaRPr lang="en-US" sz="1100" dirty="0"/>
          </a:p>
        </p:txBody>
      </p:sp>
      <p:sp>
        <p:nvSpPr>
          <p:cNvPr id="15" name="Point 4 marker"/>
          <p:cNvSpPr/>
          <p:nvPr/>
        </p:nvSpPr>
        <p:spPr>
          <a:xfrm>
            <a:off x="7680960" y="493776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int 4 head"/>
          <p:cNvSpPr txBox="1"/>
          <p:nvPr/>
        </p:nvSpPr>
        <p:spPr>
          <a:xfrm>
            <a:off x="7909560" y="4937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Robust to set-up</a:t>
            </a:r>
            <a:endParaRPr lang="en-US" sz="1400" dirty="0"/>
          </a:p>
        </p:txBody>
      </p:sp>
      <p:sp>
        <p:nvSpPr>
          <p:cNvPr id="17" name="Point 4 text"/>
          <p:cNvSpPr txBox="1"/>
          <p:nvPr/>
        </p:nvSpPr>
        <p:spPr>
          <a:xfrm>
            <a:off x="7909560" y="5285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Application-time features, class weighting, random split, raw columns: all AUC ≈ 0.50.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label is fixed, segment on risk × value, not on propensity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Repeat rate is ~30% in every bureau × ticket segment, so these rules protect credit quality without needing a model</a:t>
            </a:r>
            <a:endParaRPr lang="en-US" sz="1300" dirty="0"/>
          </a:p>
        </p:txBody>
      </p:sp>
      <p:graphicFrame>
        <p:nvGraphicFramePr>
          <p:cNvPr id="5" name="Poli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3749040"/>
                <a:gridCol w="914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Bureau band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Repeat-loan strategy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</a:rPr>
                        <a:t>750+  Prime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21%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Pre-approved top-up at loyalty rate; instant disbursal, no re-KYC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≤1.5× last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</a:rPr>
                        <a:t>700–749  Near-prime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7%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Pre-approved at standard rate after 3 on-time EMIs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≤1.2× last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</a:rPr>
                        <a:t>600–699  Sub-prime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14%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Offer only after full on-time repayment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Same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</a:rPr>
                        <a:t>&lt;600  High risk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43%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No proactive offer; re-assess after 6 on-time EMIs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</a:rPr>
                        <a:t>No score  Thin-file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15%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Small graduated top-up to build history (growth segment)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0.5–1×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Retention panel"/>
          <p:cNvSpPr/>
          <p:nvPr/>
        </p:nvSpPr>
        <p:spPr>
          <a:xfrm>
            <a:off x="7955280" y="1645920"/>
            <a:ext cx="3657600" cy="4343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Retention title"/>
          <p:cNvSpPr txBox="1"/>
          <p:nvPr/>
        </p:nvSpPr>
        <p:spPr>
          <a:xfrm>
            <a:off x="8183880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Keep high-value customers</a:t>
            </a:r>
            <a:endParaRPr lang="en-US" sz="1500" dirty="0"/>
          </a:p>
        </p:txBody>
      </p:sp>
      <p:sp>
        <p:nvSpPr>
          <p:cNvPr id="7" name="Retention def"/>
          <p:cNvSpPr txBox="1"/>
          <p:nvPr/>
        </p:nvSpPr>
        <p:spPr>
          <a:xfrm>
            <a:off x="8183880" y="2194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750+ score, top-third ticket and income: ~2.4% of base, worth ~₹3K contribution per repeat loan vs ₹1.5K to acquire a replacement.</a:t>
            </a:r>
            <a:endParaRPr lang="en-US" sz="1050" dirty="0"/>
          </a:p>
        </p:txBody>
      </p:sp>
      <p:sp>
        <p:nvSpPr>
          <p:cNvPr id="8" name="Retention actions"/>
          <p:cNvSpPr txBox="1"/>
          <p:nvPr/>
        </p:nvSpPr>
        <p:spPr>
          <a:xfrm>
            <a:off x="8183880" y="30175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Pre-approved top-up 30–60 days before the last EMI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Loyalty pricing for on-time payers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One-tap renewal, no re-KYC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Fix service first: 71% of applications carry a complaint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Priority line for MSME borrowers</a:t>
            </a:r>
            <a:endParaRPr lang="en-US" sz="1150" dirty="0"/>
          </a:p>
        </p:txBody>
      </p:sp>
      <p:sp>
        <p:nvSpPr>
          <p:cNvPr id="9" name="Pilot note"/>
          <p:cNvSpPr txBox="1"/>
          <p:nvPr/>
        </p:nvSpPr>
        <p:spPr>
          <a:xfrm>
            <a:off x="818388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Test it: randomised pilot on the prime segment; ~3.8K customers per arm detects a +3 pt uplift.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a model with no signal can still do harm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Leakage, drift and bias checks built into the pipeline, ready for the corrected label</a:t>
            </a:r>
            <a:endParaRPr lang="en-US" sz="1300" dirty="0"/>
          </a:p>
        </p:txBody>
      </p:sp>
      <p:sp>
        <p:nvSpPr>
          <p:cNvPr id="4" name="Leakage bar"/>
          <p:cNvSpPr/>
          <p:nvPr/>
        </p:nvSpPr>
        <p:spPr>
          <a:xfrm>
            <a:off x="548640" y="1645920"/>
            <a:ext cx="356616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eakage head"/>
          <p:cNvSpPr txBox="1"/>
          <p:nvPr/>
        </p:nvSpPr>
        <p:spPr>
          <a:xfrm>
            <a:off x="5486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Leakage</a:t>
            </a:r>
            <a:endParaRPr lang="en-US" sz="1800" dirty="0"/>
          </a:p>
        </p:txBody>
      </p:sp>
      <p:sp>
        <p:nvSpPr>
          <p:cNvPr id="6" name="Leakage items"/>
          <p:cNvSpPr txBox="1"/>
          <p:nvPr/>
        </p:nvSpPr>
        <p:spPr>
          <a:xfrm>
            <a:off x="548640" y="2331720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67% of rows share an ID → customer-grouped CV + out-of-time test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approved_amount is post-decision: drop it for an application-time model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Label needs a 12-month maturity window; 2024 rows don't have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Features use only earlier applications (no look-ahead)</a:t>
            </a:r>
            <a:endParaRPr lang="en-US" sz="1200" dirty="0"/>
          </a:p>
        </p:txBody>
      </p:sp>
      <p:sp>
        <p:nvSpPr>
          <p:cNvPr id="7" name="Drift bar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Drift head"/>
          <p:cNvSpPr txBox="1"/>
          <p:nvPr/>
        </p:nvSpPr>
        <p:spPr>
          <a:xfrm>
            <a:off x="429768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Drift</a:t>
            </a:r>
            <a:endParaRPr lang="en-US" sz="1800" dirty="0"/>
          </a:p>
        </p:txBody>
      </p:sp>
      <p:sp>
        <p:nvSpPr>
          <p:cNvPr id="9" name="Drift items"/>
          <p:cNvSpPr txBox="1"/>
          <p:nvPr/>
        </p:nvSpPr>
        <p:spPr>
          <a:xfrm>
            <a:off x="4297680" y="2331720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 inputs stable 2022–23 vs 2024 (PSI &lt; 0.01)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 time-driven fields shift (tenure, prior applications)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Live plan: monthly PSI (alert 0.10, act 0.25), monthly AUC/KS on matured cohorts, champion–challenger before recalibrating</a:t>
            </a:r>
            <a:endParaRPr lang="en-US" sz="1200" dirty="0"/>
          </a:p>
        </p:txBody>
      </p:sp>
      <p:sp>
        <p:nvSpPr>
          <p:cNvPr id="10" name="Bias bar"/>
          <p:cNvSpPr/>
          <p:nvPr/>
        </p:nvSpPr>
        <p:spPr>
          <a:xfrm>
            <a:off x="8046720" y="164592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ias head"/>
          <p:cNvSpPr txBox="1"/>
          <p:nvPr/>
        </p:nvSpPr>
        <p:spPr>
          <a:xfrm>
            <a:off x="804672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Bias</a:t>
            </a:r>
            <a:endParaRPr lang="en-US" sz="1800" dirty="0"/>
          </a:p>
        </p:txBody>
      </p:sp>
      <p:sp>
        <p:nvSpPr>
          <p:cNvPr id="12" name="Bias items"/>
          <p:cNvSpPr txBox="1"/>
          <p:nvPr/>
        </p:nvSpPr>
        <p:spPr>
          <a:xfrm>
            <a:off x="8046720" y="2331720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Gender excluded; selection by gender within 3%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City fails the four-fifths rule: Hyderabad 23% vs Jaipur 37% selected, while actual repeat rates are equal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model turned city-level noise into unequal treatment. Monitor offer rates by city and device as proxy checks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is worth real money, and recall drops have a price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Retention offer to the top 30% by score, per 100K customers (assumptions: 6% margin, ₹150/offer, offer wins 20% of reached repeaters)</a:t>
            </a:r>
            <a:endParaRPr lang="en-US" sz="1300" dirty="0"/>
          </a:p>
        </p:txBody>
      </p:sp>
      <p:graphicFrame>
        <p:nvGraphicFramePr>
          <p:cNvPr id="4" name="Value by AUC chart" descr=""/>
          <p:cNvGraphicFramePr/>
          <p:nvPr/>
        </p:nvGraphicFramePr>
        <p:xfrm>
          <a:off x="457200" y="16002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callout"/>
          <p:cNvSpPr txBox="1"/>
          <p:nvPr/>
        </p:nvSpPr>
        <p:spPr>
          <a:xfrm>
            <a:off x="548640" y="5852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Today: −₹11.2 L   ·   AUC 0.70: +₹9.5 L   ·   AUC 0.80: +₹21.9 L</a:t>
            </a:r>
            <a:endParaRPr lang="en-US" sz="1100" dirty="0"/>
          </a:p>
        </p:txBody>
      </p:sp>
      <p:sp>
        <p:nvSpPr>
          <p:cNvPr id="6" name="Recall panel"/>
          <p:cNvSpPr/>
          <p:nvPr/>
        </p:nvSpPr>
        <p:spPr>
          <a:xfrm>
            <a:off x="7498080" y="1645920"/>
            <a:ext cx="4114800" cy="4526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call title"/>
          <p:cNvSpPr txBox="1"/>
          <p:nvPr/>
        </p:nvSpPr>
        <p:spPr>
          <a:xfrm>
            <a:off x="772668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10-point recall drop (48% → 38%)</a:t>
            </a:r>
            <a:endParaRPr lang="en-US" sz="1500" dirty="0"/>
          </a:p>
        </p:txBody>
      </p:sp>
      <p:sp>
        <p:nvSpPr>
          <p:cNvPr id="8" name="Recall value 1"/>
          <p:cNvSpPr txBox="1"/>
          <p:nvPr/>
        </p:nvSpPr>
        <p:spPr>
          <a:xfrm>
            <a:off x="7726680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3,007</a:t>
            </a:r>
            <a:endParaRPr lang="en-US" sz="2400" dirty="0"/>
          </a:p>
        </p:txBody>
      </p:sp>
      <p:sp>
        <p:nvSpPr>
          <p:cNvPr id="9" name="Recall label 1"/>
          <p:cNvSpPr txBox="1"/>
          <p:nvPr/>
        </p:nvSpPr>
        <p:spPr>
          <a:xfrm>
            <a:off x="937260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repeat customers drop off the target list</a:t>
            </a:r>
            <a:endParaRPr lang="en-US" sz="1100" dirty="0"/>
          </a:p>
        </p:txBody>
      </p:sp>
      <p:sp>
        <p:nvSpPr>
          <p:cNvPr id="10" name="Recall value 2"/>
          <p:cNvSpPr txBox="1"/>
          <p:nvPr/>
        </p:nvSpPr>
        <p:spPr>
          <a:xfrm>
            <a:off x="772668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₹9.4 Cr</a:t>
            </a:r>
            <a:endParaRPr lang="en-US" sz="2400" dirty="0"/>
          </a:p>
        </p:txBody>
      </p:sp>
      <p:sp>
        <p:nvSpPr>
          <p:cNvPr id="11" name="Recall label 2"/>
          <p:cNvSpPr txBox="1"/>
          <p:nvPr/>
        </p:nvSpPr>
        <p:spPr>
          <a:xfrm>
            <a:off x="937260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repeat disbursal at stake</a:t>
            </a:r>
            <a:endParaRPr lang="en-US" sz="1100" dirty="0"/>
          </a:p>
        </p:txBody>
      </p:sp>
      <p:sp>
        <p:nvSpPr>
          <p:cNvPr id="12" name="Recall value 3"/>
          <p:cNvSpPr txBox="1"/>
          <p:nvPr/>
        </p:nvSpPr>
        <p:spPr>
          <a:xfrm>
            <a:off x="772668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₹11.2 L</a:t>
            </a:r>
            <a:endParaRPr lang="en-US" sz="2400" dirty="0"/>
          </a:p>
        </p:txBody>
      </p:sp>
      <p:sp>
        <p:nvSpPr>
          <p:cNvPr id="13" name="Recall label 3"/>
          <p:cNvSpPr txBox="1"/>
          <p:nvPr/>
        </p:nvSpPr>
        <p:spPr>
          <a:xfrm>
            <a:off x="93726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expected lost contribution</a:t>
            </a:r>
            <a:endParaRPr lang="en-US" sz="1100" dirty="0"/>
          </a:p>
        </p:txBody>
      </p:sp>
      <p:sp>
        <p:nvSpPr>
          <p:cNvPr id="14" name="Recall value 4"/>
          <p:cNvSpPr txBox="1"/>
          <p:nvPr/>
        </p:nvSpPr>
        <p:spPr>
          <a:xfrm>
            <a:off x="7726680" y="4617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₹9.0 L</a:t>
            </a:r>
            <a:endParaRPr lang="en-US" sz="2400" dirty="0"/>
          </a:p>
        </p:txBody>
      </p:sp>
      <p:sp>
        <p:nvSpPr>
          <p:cNvPr id="15" name="Recall label 4"/>
          <p:cNvSpPr txBox="1"/>
          <p:nvPr/>
        </p:nvSpPr>
        <p:spPr>
          <a:xfrm>
            <a:off x="9372600" y="4617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CAC to replace those loans</a:t>
            </a:r>
            <a:endParaRPr lang="en-US" sz="1100" dirty="0"/>
          </a:p>
        </p:txBody>
      </p:sp>
      <p:sp>
        <p:nvSpPr>
          <p:cNvPr id="16" name="Recall rule"/>
          <p:cNvSpPr txBox="1"/>
          <p:nvPr/>
        </p:nvSpPr>
        <p:spPr>
          <a:xfrm>
            <a:off x="7726680" y="5440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Rule of thumb: 1 pt of recall ≈ 300 repeaters ≈ ₹94 L disbursal per 100K customers. Track recall at the cut-off monthly; alert at −3 pts.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8F0"/>
                </a:solidFill>
              </a:rPr>
              <a:t>RECOMMENDATIONS  ·  NEXT 90 DAYS</a:t>
            </a:r>
            <a:endParaRPr lang="en-US" sz="1200" dirty="0"/>
          </a:p>
        </p:txBody>
      </p:sp>
      <p:sp>
        <p:nvSpPr>
          <p:cNvPr id="3" name="Headline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Fix the data, start learning from a pilot, and keep the pipeline ready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2194560"/>
            <a:ext cx="2633472" cy="301752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5" name="Step 1 when"/>
          <p:cNvSpPr txBox="1"/>
          <p:nvPr/>
        </p:nvSpPr>
        <p:spPr>
          <a:xfrm>
            <a:off x="77724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C8F0"/>
                </a:solidFill>
              </a:rPr>
              <a:t>Weeks 1–3</a:t>
            </a:r>
            <a:endParaRPr lang="en-US" sz="1100" dirty="0"/>
          </a:p>
        </p:txBody>
      </p:sp>
      <p:sp>
        <p:nvSpPr>
          <p:cNvPr id="6" name="Step 1 head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Fix the label</a:t>
            </a:r>
            <a:endParaRPr lang="en-US" sz="1800" dirty="0"/>
          </a:p>
        </p:txBody>
      </p:sp>
      <p:sp>
        <p:nvSpPr>
          <p:cNvPr id="7" name="Step 1 text"/>
          <p:cNvSpPr txBox="1"/>
          <p:nvPr/>
        </p:nvSpPr>
        <p:spPr>
          <a:xfrm>
            <a:off x="777240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5"/>
                </a:solidFill>
              </a:rPr>
              <a:t>Rebuild repeat_loan from disbursal records with a 12-month maturity window; repair customer_id and registration timestamps.</a:t>
            </a:r>
            <a:endParaRPr lang="en-US" sz="1200" dirty="0"/>
          </a:p>
        </p:txBody>
      </p:sp>
      <p:sp>
        <p:nvSpPr>
          <p:cNvPr id="8" name="Step 2"/>
          <p:cNvSpPr/>
          <p:nvPr/>
        </p:nvSpPr>
        <p:spPr>
          <a:xfrm>
            <a:off x="3364992" y="2194560"/>
            <a:ext cx="2633472" cy="301752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9" name="Step 2 when"/>
          <p:cNvSpPr txBox="1"/>
          <p:nvPr/>
        </p:nvSpPr>
        <p:spPr>
          <a:xfrm>
            <a:off x="3593592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C8F0"/>
                </a:solidFill>
              </a:rPr>
              <a:t>Weeks 2–6</a:t>
            </a:r>
            <a:endParaRPr lang="en-US" sz="1100" dirty="0"/>
          </a:p>
        </p:txBody>
      </p:sp>
      <p:sp>
        <p:nvSpPr>
          <p:cNvPr id="10" name="Step 2 head"/>
          <p:cNvSpPr txBox="1"/>
          <p:nvPr/>
        </p:nvSpPr>
        <p:spPr>
          <a:xfrm>
            <a:off x="359359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Add real drivers</a:t>
            </a:r>
            <a:endParaRPr lang="en-US" sz="1800" dirty="0"/>
          </a:p>
        </p:txBody>
      </p:sp>
      <p:sp>
        <p:nvSpPr>
          <p:cNvPr id="11" name="Step 2 text"/>
          <p:cNvSpPr txBox="1"/>
          <p:nvPr/>
        </p:nvSpPr>
        <p:spPr>
          <a:xfrm>
            <a:off x="3593592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5"/>
                </a:solidFill>
              </a:rPr>
              <a:t>First-loan repayment (DPD), loan closure date, offer history, app engagement, complaint resolution.</a:t>
            </a:r>
            <a:endParaRPr lang="en-US" sz="1200" dirty="0"/>
          </a:p>
        </p:txBody>
      </p:sp>
      <p:sp>
        <p:nvSpPr>
          <p:cNvPr id="12" name="Step 3"/>
          <p:cNvSpPr/>
          <p:nvPr/>
        </p:nvSpPr>
        <p:spPr>
          <a:xfrm>
            <a:off x="6181344" y="2194560"/>
            <a:ext cx="2633472" cy="301752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13" name="Step 3 when"/>
          <p:cNvSpPr txBox="1"/>
          <p:nvPr/>
        </p:nvSpPr>
        <p:spPr>
          <a:xfrm>
            <a:off x="6409944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C8F0"/>
                </a:solidFill>
              </a:rPr>
              <a:t>Weeks 3–12</a:t>
            </a:r>
            <a:endParaRPr lang="en-US" sz="1100" dirty="0"/>
          </a:p>
        </p:txBody>
      </p:sp>
      <p:sp>
        <p:nvSpPr>
          <p:cNvPr id="14" name="Step 3 head"/>
          <p:cNvSpPr txBox="1"/>
          <p:nvPr/>
        </p:nvSpPr>
        <p:spPr>
          <a:xfrm>
            <a:off x="640994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Run the pilot</a:t>
            </a:r>
            <a:endParaRPr lang="en-US" sz="1800" dirty="0"/>
          </a:p>
        </p:txBody>
      </p:sp>
      <p:sp>
        <p:nvSpPr>
          <p:cNvPr id="15" name="Step 3 text"/>
          <p:cNvSpPr txBox="1"/>
          <p:nvPr/>
        </p:nvSpPr>
        <p:spPr>
          <a:xfrm>
            <a:off x="6409944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5"/>
                </a:solidFill>
              </a:rPr>
              <a:t>Randomised top-up offer on the prime segment (~3.8K per arm). Earns on low-risk customers and creates a causal label for an uplift model.</a:t>
            </a:r>
            <a:endParaRPr lang="en-US" sz="1200" dirty="0"/>
          </a:p>
        </p:txBody>
      </p:sp>
      <p:sp>
        <p:nvSpPr>
          <p:cNvPr id="16" name="Step 4"/>
          <p:cNvSpPr/>
          <p:nvPr/>
        </p:nvSpPr>
        <p:spPr>
          <a:xfrm>
            <a:off x="8997696" y="2194560"/>
            <a:ext cx="2633472" cy="3017520"/>
          </a:xfrm>
          <a:prstGeom prst="rect">
            <a:avLst/>
          </a:prstGeom>
          <a:solidFill>
            <a:srgbClr val="1E4069"/>
          </a:solidFill>
          <a:ln w="12700">
            <a:solidFill>
              <a:srgbClr val="1E4069"/>
            </a:solidFill>
            <a:prstDash val="solid"/>
          </a:ln>
        </p:spPr>
      </p:sp>
      <p:sp>
        <p:nvSpPr>
          <p:cNvPr id="17" name="Step 4 when"/>
          <p:cNvSpPr txBox="1"/>
          <p:nvPr/>
        </p:nvSpPr>
        <p:spPr>
          <a:xfrm>
            <a:off x="9226296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C8F0"/>
                </a:solidFill>
              </a:rPr>
              <a:t>Week 8+</a:t>
            </a:r>
            <a:endParaRPr lang="en-US" sz="1100" dirty="0"/>
          </a:p>
        </p:txBody>
      </p:sp>
      <p:sp>
        <p:nvSpPr>
          <p:cNvPr id="18" name="Step 4 head"/>
          <p:cNvSpPr txBox="1"/>
          <p:nvPr/>
        </p:nvSpPr>
        <p:spPr>
          <a:xfrm>
            <a:off x="922629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Retrain and govern</a:t>
            </a:r>
            <a:endParaRPr lang="en-US" sz="1800" dirty="0"/>
          </a:p>
        </p:txBody>
      </p:sp>
      <p:sp>
        <p:nvSpPr>
          <p:cNvPr id="19" name="Step 4 text"/>
          <p:cNvSpPr txBox="1"/>
          <p:nvPr/>
        </p:nvSpPr>
        <p:spPr>
          <a:xfrm>
            <a:off x="9226296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5"/>
                </a:solidFill>
              </a:rPr>
              <a:t>Reuse this pipeline; deploy only if out-of-time AUC ≥ 0.65 and the four-fifths rule passes by city. Monthly PSI and recall monitoring.</a:t>
            </a:r>
            <a:endParaRPr lang="en-US" sz="1200" dirty="0"/>
          </a:p>
        </p:txBody>
      </p:sp>
      <p:sp>
        <p:nvSpPr>
          <p:cNvPr id="20" name="Decision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72"/>
                </a:solidFill>
              </a:rPr>
              <a:t>Decision needed: approve the data fix and the prime-segment pilot. Don't deploy the current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8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Fast Repeat">
  <a:themeElements>
    <a:clrScheme name="FinFast Repeat">
      <a:dk1>
        <a:srgbClr val="0B0B0B"/>
      </a:dk1>
      <a:lt1>
        <a:srgbClr val="FFFFFF"/>
      </a:lt1>
      <a:dk2>
        <a:srgbClr val="14304F"/>
      </a:dk2>
      <a:lt2>
        <a:srgbClr val="F3F5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2514E"/>
      </a:accent5>
      <a:accent6>
        <a:srgbClr val="A3A29C"/>
      </a:accent6>
      <a:hlink>
        <a:srgbClr val="2A78D6"/>
      </a:hlink>
      <a:folHlink>
        <a:srgbClr val="4A3AA7"/>
      </a:folHlink>
    </a:clrScheme>
    <a:fontScheme name="FinFast Repe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FinFast repeat-loan modelling: leadership summary</dc:title>
  <dc:subject>PptxGenJS Presentation</dc:subject>
  <dc:creator>PptxGenJS</dc:creator>
  <cp:lastModifiedBy>PptxGenJS</cp:lastModifiedBy>
  <cp:revision>1</cp:revision>
  <dcterms:created xsi:type="dcterms:W3CDTF">2026-10-05T04:20:17Z</dcterms:created>
  <dcterms:modified xsi:type="dcterms:W3CDTF">2026-10-05T04:20:17Z</dcterms:modified>
</cp:coreProperties>
</file>